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66" r:id="rId16"/>
    <p:sldId id="273" r:id="rId17"/>
    <p:sldId id="264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C5"/>
    <a:srgbClr val="A2BE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2AD3C-EDAE-4A92-8AA6-603276FF01ED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A8112-E30E-47AD-B901-82577F47C35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9228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3A8112-E30E-47AD-B901-82577F47C35F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4112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8C4447-4E84-6778-07B4-C9EE20D1D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630B6FD-1903-0DA5-1BD8-62B9A5C13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4EC7925-A998-2DBD-96C8-034C7D5F5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166C4F-9FEC-3A1D-56E2-5EEE0AEC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7B44E5D-AE6C-A5D8-2A70-74E35317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910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47E96B-9AB3-CC43-62F7-0AAC26C1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6515616-4E0F-3B2B-16B7-F8DDB27C2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BBA2A0-8B01-B195-8D72-E7AF3F4D1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487AF00-53F3-77F5-47BA-54A8D157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79EEB46-91EB-0DBE-1323-F725A387D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505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CCFE25-3198-6005-673E-7AB1ED84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917D0E3-3FE7-EC5E-9E9E-CC4BAD1D8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54E79CA-7865-35F5-0AB6-07F566288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822035D-B094-0EE3-FDE2-DA1D2DFB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2030CA4-DEBE-C0D5-07D3-688745A8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72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7BE731-1D75-964B-12D5-060410353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B8DED1-FD51-A37D-6B22-6B88BBDF2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2879D8A-51C9-AE00-A72E-E79B0F76E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E027974-169F-6780-55B9-4C8B4605D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F8D2330-6182-7D43-CD98-D7D036C9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771E6BD-2920-68DE-66A0-4F21FA09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2690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BF6B77-74CF-93A5-7A3A-BC9459A7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DA3B939-4703-F053-F8A0-3E88CF218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FE40F53-8D50-9E8F-CBD8-9E49EE12E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12D3BDC-A799-41EF-FCB2-B61FD5D9B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1FB66CB3-EAD5-68B7-AB41-A09D0C545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D623070-60E3-E27C-5CB6-BF58E403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B056A220-8C05-2771-F1DE-776AB537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896B17D-238E-D85F-1CC8-238F6CF5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290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C7295F-FBF4-8556-5D6E-0B731EF8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2008C22-FDC8-146D-E5BC-2DD6062B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E31A1C0-F04F-22E1-5EB5-1CFE7051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EBD2D8E-8685-DFC8-1674-1D56A324E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303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4D3C734-CBA3-87F9-50BA-C52026CB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BEA8D28-37EB-E3C7-7CFB-FAB934A1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C8AEC37-68C8-C638-230D-9897D9CB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070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8EC911-4036-F1CB-BBA9-5CDE4C8F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514A80C-6D68-C276-834E-A584DCF4E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1FB60B1-FFFF-70D4-C530-D520954DC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ECC7309-1748-5EC0-E672-63A801D3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4C638C0-22F1-DFA1-4D52-D8E3427C8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DA81020-E598-D4EF-AA5F-3C658742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97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BA929C-7190-7F13-BE79-127240729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EB5DE8D-A87D-9F9C-39D2-CEE5FD49B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0008D01-57DE-CB1B-FFFD-6C282BF9F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35C62A8-BC62-8391-B5DF-2DFFA28A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ED9A414-BC28-21C1-965E-A746E53D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83712DC-BF7F-4E85-144E-E1167601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762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EC07A1-38AC-AFFE-9206-8856330E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53133B6-BD46-C944-08D4-ABB03030B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58DBFE0-881B-4B9B-35FF-309A02655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A0A36A8-2046-3603-56C0-17AA3D27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DB3906-3F16-3E99-1ECD-2D899A5D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443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EE2A757-C295-738D-C808-5E1400EF0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3C558EC-068A-3EA4-3A15-29A70353F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895DE64-8E0A-4804-24EF-2EA33A61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99EE050-0E1E-3383-2560-AD27D71E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5AD583E-490B-1B23-6D67-20A9576D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031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0709AD3-D27C-14A1-8270-38AB92594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05EA0EC-1D4E-ADAD-567E-AB6C208A2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BBAD6D5-70E7-DE3F-BD08-F98A7F6DF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FE016-27F7-42F6-A915-103502BCF55A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6082237-C458-D9D1-01F7-CD6999807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19A89F0-E42E-AD5F-CEF3-0ACBBFCA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66693-0FA7-46D1-834A-E48AE6C46C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250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AA3013-03C6-392D-DB87-66924FC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7791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Mak</a:t>
            </a:r>
            <a:r>
              <a:rPr lang="tr-TR" dirty="0"/>
              <a:t>ine Öğrenmesi Modellerinde </a:t>
            </a:r>
            <a:r>
              <a:rPr lang="tr-TR" dirty="0" err="1"/>
              <a:t>Adversarial</a:t>
            </a:r>
            <a:r>
              <a:rPr lang="tr-TR" dirty="0"/>
              <a:t> Saldırılar </a:t>
            </a:r>
            <a:br>
              <a:rPr lang="tr-TR" dirty="0"/>
            </a:br>
            <a:r>
              <a:rPr lang="tr-TR" dirty="0"/>
              <a:t>–</a:t>
            </a:r>
            <a:br>
              <a:rPr lang="tr-TR" dirty="0"/>
            </a:br>
            <a:br>
              <a:rPr lang="tr-TR" dirty="0"/>
            </a:br>
            <a:r>
              <a:rPr lang="tr-TR" dirty="0" err="1"/>
              <a:t>Adversarial</a:t>
            </a:r>
            <a:r>
              <a:rPr lang="tr-TR" dirty="0"/>
              <a:t> Machine Learning</a:t>
            </a:r>
            <a:br>
              <a:rPr lang="tr-TR" dirty="0"/>
            </a:br>
            <a:r>
              <a:rPr lang="tr-TR" dirty="0"/>
              <a:t> 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795E212-DF7F-C209-C181-41E0D7B90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pPr algn="r"/>
            <a:endParaRPr lang="tr-TR" sz="1000" dirty="0"/>
          </a:p>
          <a:p>
            <a:pPr algn="r"/>
            <a:endParaRPr lang="tr-TR" sz="1000" dirty="0"/>
          </a:p>
          <a:p>
            <a:pPr algn="r"/>
            <a:endParaRPr lang="tr-TR" sz="1000" dirty="0"/>
          </a:p>
          <a:p>
            <a:pPr algn="r"/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273272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A4C54C-D75B-9337-E906-27AB857E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Makine Öğrenmesi Nedir?</a:t>
            </a: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33399DBF-4CFD-9C2C-577B-00C2DADC6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545" y="1690688"/>
            <a:ext cx="62673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82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1A1400-6976-D422-FD88-390BB348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/>
              <a:t>Karmaşık talimatlar yerine; Makine fazlaca veriden talimatları kendisi çıkarıyor</a:t>
            </a:r>
          </a:p>
        </p:txBody>
      </p:sp>
      <p:pic>
        <p:nvPicPr>
          <p:cNvPr id="4" name="İçerik Yer Tutucusu 4">
            <a:extLst>
              <a:ext uri="{FF2B5EF4-FFF2-40B4-BE49-F238E27FC236}">
                <a16:creationId xmlns:a16="http://schemas.microsoft.com/office/drawing/2014/main" id="{F3972275-D814-0A6B-3EE5-CD2A524C9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243" y="2009018"/>
            <a:ext cx="6486558" cy="401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1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F527BA-F436-0FEF-8451-A877F67D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3921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i="1" dirty="0"/>
              <a:t>Kendi keşfettiği desenleri anlamlandırarak öğrenme işlemini gerçekleştiriyor, dolayısıyla eklenecek bir gürültü insan gözüyle yanılsamaya sebep olmasa da makine için şaşırtıcı derecede farklı sonuçlar bulunmasına sebep olabilir (</a:t>
            </a:r>
            <a:r>
              <a:rPr lang="tr-T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bir </a:t>
            </a:r>
            <a:r>
              <a:rPr lang="tr-TR" sz="2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adversarial</a:t>
            </a:r>
            <a:r>
              <a:rPr lang="tr-T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saldırı örneği</a:t>
            </a:r>
            <a:r>
              <a:rPr lang="tr-TR" i="1" dirty="0"/>
              <a:t>).</a:t>
            </a:r>
          </a:p>
        </p:txBody>
      </p:sp>
      <p:pic>
        <p:nvPicPr>
          <p:cNvPr id="5" name="Resim 4" descr="metin, ekran görüntüsü, yazı tipi, graf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55779C0-5CDE-00BA-0E97-9795C8128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944" y="3252678"/>
            <a:ext cx="7748109" cy="3004807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66778ADA-4F69-2AA4-B4BD-1D6E5D5AD631}"/>
              </a:ext>
            </a:extLst>
          </p:cNvPr>
          <p:cNvSpPr txBox="1"/>
          <p:nvPr/>
        </p:nvSpPr>
        <p:spPr>
          <a:xfrm>
            <a:off x="2480553" y="2730213"/>
            <a:ext cx="312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i="1" dirty="0"/>
              <a:t>DUR LEVHASI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4BC6EB02-475A-89C1-7F59-AF8DF082B2A4}"/>
              </a:ext>
            </a:extLst>
          </p:cNvPr>
          <p:cNvSpPr txBox="1"/>
          <p:nvPr/>
        </p:nvSpPr>
        <p:spPr>
          <a:xfrm>
            <a:off x="7992893" y="2730213"/>
            <a:ext cx="312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i="1" dirty="0"/>
              <a:t>YOL VER LEVHASI</a:t>
            </a:r>
          </a:p>
        </p:txBody>
      </p:sp>
    </p:spTree>
    <p:extLst>
      <p:ext uri="{BB962C8B-B14F-4D97-AF65-F5344CB8AC3E}">
        <p14:creationId xmlns:p14="http://schemas.microsoft.com/office/powerpoint/2010/main" val="278077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1A03C9A-03D0-CB45-CA11-BB595D7C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Adversarial</a:t>
            </a:r>
            <a:r>
              <a:rPr lang="tr-TR" dirty="0"/>
              <a:t> Machine Learning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A82C1E-D7A2-55DD-9CAF-672D64E11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ML modellerini </a:t>
            </a:r>
            <a:r>
              <a:rPr lang="tr-TR" i="1" u="sng" dirty="0"/>
              <a:t>manipüle</a:t>
            </a:r>
            <a:r>
              <a:rPr lang="tr-TR" dirty="0"/>
              <a:t> etmeye çalışan bir disiplin.</a:t>
            </a:r>
          </a:p>
          <a:p>
            <a:endParaRPr lang="tr-TR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47DE938-4244-8DF1-05DC-CF556B1B28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7" name="Resim 6" descr="metin, memeli, ayı, pand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51FCBB1-AE31-9166-D747-89D92A0A2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275" y="3838669"/>
            <a:ext cx="7035450" cy="277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38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4E5B18-DBC8-F1E4-A309-B557837E9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451694"/>
            <a:ext cx="10515600" cy="1325563"/>
          </a:xfrm>
        </p:spPr>
        <p:txBody>
          <a:bodyPr>
            <a:normAutofit/>
          </a:bodyPr>
          <a:lstStyle/>
          <a:p>
            <a:r>
              <a:rPr lang="tr-TR" sz="4000" i="1" u="sng" dirty="0" err="1"/>
              <a:t>Types</a:t>
            </a:r>
            <a:r>
              <a:rPr lang="tr-TR" sz="4000" i="1" u="sng" dirty="0"/>
              <a:t> of </a:t>
            </a:r>
            <a:r>
              <a:rPr lang="tr-TR" sz="4000" i="1" u="sng" dirty="0" err="1"/>
              <a:t>Adversarial</a:t>
            </a:r>
            <a:r>
              <a:rPr lang="tr-TR" sz="4000" i="1" u="sng" dirty="0"/>
              <a:t> </a:t>
            </a:r>
            <a:r>
              <a:rPr lang="tr-TR" sz="4000" i="1" u="sng" dirty="0" err="1"/>
              <a:t>attacks</a:t>
            </a:r>
            <a:endParaRPr lang="tr-TR" sz="4000" i="1" u="sng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01617D-053A-80FC-CFAC-80CBD0A75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0880"/>
            <a:ext cx="10744200" cy="4531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1. Saldırganın Bilgi Düzeyine Göre (Knowledge-</a:t>
            </a:r>
            <a:r>
              <a:rPr lang="tr-TR" dirty="0" err="1"/>
              <a:t>based</a:t>
            </a:r>
            <a:r>
              <a:rPr lang="tr-TR" dirty="0"/>
              <a:t>)</a:t>
            </a:r>
            <a:endParaRPr lang="tr-TR" sz="2000" b="1" dirty="0"/>
          </a:p>
          <a:p>
            <a:pPr marL="0" indent="0">
              <a:buNone/>
            </a:pPr>
            <a:endParaRPr lang="tr-TR" sz="2000" b="1" dirty="0"/>
          </a:p>
          <a:p>
            <a:pPr marL="0" indent="0">
              <a:buNone/>
            </a:pPr>
            <a:r>
              <a:rPr lang="tr-TR" sz="2000" b="1" dirty="0"/>
              <a:t>* Beyaz Kutu (White-</a:t>
            </a:r>
            <a:r>
              <a:rPr lang="tr-TR" sz="2000" b="1" dirty="0" err="1"/>
              <a:t>box</a:t>
            </a:r>
            <a:r>
              <a:rPr lang="tr-TR" sz="2000" b="1" dirty="0"/>
              <a:t>):  </a:t>
            </a:r>
            <a:r>
              <a:rPr lang="tr-TR" sz="2000" dirty="0"/>
              <a:t>Saldırgan modelin her şeyini bilir; mimarisi, algoritması, ağırlıkları (</a:t>
            </a:r>
            <a:r>
              <a:rPr lang="tr-TR" sz="2000" dirty="0" err="1"/>
              <a:t>weights</a:t>
            </a:r>
            <a:r>
              <a:rPr lang="tr-TR" sz="2000" dirty="0"/>
              <a:t>) ve gradyanları. </a:t>
            </a:r>
            <a:r>
              <a:rPr lang="tr-T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Uygulama yapacağımız </a:t>
            </a:r>
            <a:r>
              <a:rPr lang="tr-TR" sz="2000" i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FGSM</a:t>
            </a:r>
            <a:r>
              <a:rPr lang="tr-T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buna bir örnektir.</a:t>
            </a:r>
          </a:p>
          <a:p>
            <a:pPr marL="0" indent="0">
              <a:buNone/>
            </a:pPr>
            <a:endParaRPr lang="tr-TR" sz="2000" dirty="0"/>
          </a:p>
          <a:p>
            <a:r>
              <a:rPr lang="tr-TR" sz="2000" b="1" dirty="0"/>
              <a:t>Siyah Kutu (Black-</a:t>
            </a:r>
            <a:r>
              <a:rPr lang="tr-TR" sz="2000" b="1" dirty="0" err="1"/>
              <a:t>box</a:t>
            </a:r>
            <a:r>
              <a:rPr lang="tr-TR" sz="2000" b="1" dirty="0"/>
              <a:t>):</a:t>
            </a:r>
            <a:r>
              <a:rPr lang="tr-TR" sz="2000" dirty="0"/>
              <a:t>  Saldırgan modelin iç yapısını bilmez. Sadece modele bir girdi (</a:t>
            </a:r>
            <a:r>
              <a:rPr lang="tr-TR" sz="2000" dirty="0" err="1"/>
              <a:t>input</a:t>
            </a:r>
            <a:r>
              <a:rPr lang="tr-TR" sz="2000" dirty="0"/>
              <a:t>) verir ve çıkan sonucu (</a:t>
            </a:r>
            <a:r>
              <a:rPr lang="tr-TR" sz="2000" dirty="0" err="1"/>
              <a:t>output</a:t>
            </a:r>
            <a:r>
              <a:rPr lang="tr-TR" sz="2000" dirty="0"/>
              <a:t>) görür.  </a:t>
            </a:r>
            <a:r>
              <a:rPr lang="tr-TR" sz="1800" i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Dipnot</a:t>
            </a:r>
            <a:r>
              <a:rPr lang="tr-TR" sz="1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Siyah kutu saldırıları genellikle "</a:t>
            </a:r>
            <a:r>
              <a:rPr lang="tr-TR" sz="18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Transferability</a:t>
            </a:r>
            <a:r>
              <a:rPr lang="tr-TR" sz="1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" (Aktarılabilirlik) özelliğini kullanır. Saldırgan kendi evinde benzer bir model eğitir, ona saldırır, sonra aynı saldırıyı hedef modele uygular.</a:t>
            </a:r>
            <a:endParaRPr lang="tr-TR" sz="2000" dirty="0"/>
          </a:p>
          <a:p>
            <a:pPr marL="0" indent="0">
              <a:buNone/>
            </a:pPr>
            <a:r>
              <a:rPr lang="tr-TR" sz="2000" b="1" dirty="0"/>
              <a:t>* Gri Kutu (</a:t>
            </a:r>
            <a:r>
              <a:rPr lang="tr-TR" sz="2000" b="1" dirty="0" err="1"/>
              <a:t>Grey-box</a:t>
            </a:r>
            <a:r>
              <a:rPr lang="tr-TR" sz="2000" b="1" dirty="0"/>
              <a:t>):</a:t>
            </a:r>
            <a:r>
              <a:rPr lang="tr-TR" dirty="0"/>
              <a:t> </a:t>
            </a:r>
            <a:r>
              <a:rPr lang="tr-TR" sz="2000" dirty="0"/>
              <a:t>Saldırgan model hakkında kısmi bilgiye sahiptir (örneğin sadece mimariyi biliyor ama ağırlıkları bilmiyordur).</a:t>
            </a:r>
            <a:endParaRPr lang="tr-TR" sz="2000" b="1" dirty="0"/>
          </a:p>
          <a:p>
            <a:pPr marL="0" indent="0">
              <a:buNone/>
            </a:pPr>
            <a:endParaRPr lang="tr-TR" sz="2000" dirty="0"/>
          </a:p>
        </p:txBody>
      </p:sp>
      <p:pic>
        <p:nvPicPr>
          <p:cNvPr id="8" name="Resim 7" descr="metin, kedi, kedigiller, küçük ila orta boy kedile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2BF7C29-6C3B-68E2-1A5E-DF1767502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034" y="268072"/>
            <a:ext cx="4189509" cy="150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5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3D98B1-38F7-16B8-2476-40652910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dirty="0"/>
              <a:t>2. Saldırının Zamanlamasına Göre (</a:t>
            </a:r>
            <a:r>
              <a:rPr lang="tr-TR" sz="3600" dirty="0" err="1"/>
              <a:t>Timing-based</a:t>
            </a:r>
            <a:r>
              <a:rPr lang="tr-TR" sz="3600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FE3C95-0E8F-59A5-0E70-AD1A03033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b="1" dirty="0" err="1"/>
              <a:t>Evasion</a:t>
            </a:r>
            <a:r>
              <a:rPr lang="tr-TR" sz="2400" b="1" dirty="0"/>
              <a:t> (Kaçınma) Saldırıları</a:t>
            </a:r>
            <a:r>
              <a:rPr lang="tr-TR" b="1" dirty="0"/>
              <a:t>: </a:t>
            </a:r>
            <a:r>
              <a:rPr lang="tr-TR" sz="2000" dirty="0"/>
              <a:t>Model eğitilmiştir ve çalışıyordur. Saldırgan, modeli o anki bir karar için yanıltmaya çalışır.</a:t>
            </a:r>
          </a:p>
          <a:p>
            <a:pPr marL="0" indent="0">
              <a:buNone/>
            </a:pPr>
            <a:r>
              <a:rPr lang="tr-TR" sz="1800" dirty="0"/>
              <a:t>Örnek: Bir spam filtresini geçmek için e-postaya görünmez karakterler eklemek.</a:t>
            </a:r>
          </a:p>
          <a:p>
            <a:r>
              <a:rPr lang="tr-TR" sz="2400" b="1" dirty="0" err="1"/>
              <a:t>Poisoning</a:t>
            </a:r>
            <a:r>
              <a:rPr lang="tr-TR" sz="2400" b="1" dirty="0"/>
              <a:t> (Zehirleme) Saldırıları: </a:t>
            </a:r>
            <a:r>
              <a:rPr lang="tr-TR" sz="2000" dirty="0"/>
              <a:t>Model henüz eğitim aşamasındayken yapılır. Saldırgan, eğitim veri setine "kirli" veriler sızdırır.</a:t>
            </a:r>
          </a:p>
          <a:p>
            <a:pPr marL="0" indent="0">
              <a:buNone/>
            </a:pPr>
            <a:r>
              <a:rPr lang="tr-TR" sz="1800" dirty="0"/>
              <a:t>Örnek: Modelin belirli bir etiketi (örneğin bir logoyu) her gördüğünde yanlış karar vermesini sağlayacak bir "arka kapı" (</a:t>
            </a:r>
            <a:r>
              <a:rPr lang="tr-TR" sz="1800" dirty="0" err="1"/>
              <a:t>backdoor</a:t>
            </a:r>
            <a:r>
              <a:rPr lang="tr-TR" sz="1800" dirty="0"/>
              <a:t>) yerleştirmek.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1706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0E6CA6-742C-4869-E42A-F4D5B5B8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dirty="0"/>
              <a:t>3. Saldırganın Amacına Göre (</a:t>
            </a:r>
            <a:r>
              <a:rPr lang="tr-TR" sz="3600" dirty="0" err="1"/>
              <a:t>Goal-based</a:t>
            </a:r>
            <a:r>
              <a:rPr lang="tr-TR" sz="3600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CB148CB-AEAC-3303-E186-5FCC4E8ED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b="1" dirty="0"/>
              <a:t>Hedefli (</a:t>
            </a:r>
            <a:r>
              <a:rPr lang="tr-TR" sz="2400" b="1" dirty="0" err="1"/>
              <a:t>Targeted</a:t>
            </a:r>
            <a:r>
              <a:rPr lang="tr-TR" sz="2400" b="1" dirty="0"/>
              <a:t>) Saldırı: </a:t>
            </a:r>
            <a:r>
              <a:rPr lang="tr-TR" sz="2000" dirty="0"/>
              <a:t>Saldırgan, modelin spesifik bir çıktı vermesini ister.</a:t>
            </a:r>
          </a:p>
          <a:p>
            <a:r>
              <a:rPr lang="tr-TR" sz="1800" dirty="0"/>
              <a:t>Örnek: "Bu dur tabelasını dur tabelası olarak görme, hız sınırı olarak gör."</a:t>
            </a:r>
          </a:p>
          <a:p>
            <a:r>
              <a:rPr lang="tr-TR" sz="2400" b="1" dirty="0"/>
              <a:t>Hedefsiz (</a:t>
            </a:r>
            <a:r>
              <a:rPr lang="tr-TR" sz="2400" b="1" dirty="0" err="1"/>
              <a:t>Untargeted</a:t>
            </a:r>
            <a:r>
              <a:rPr lang="tr-TR" sz="2400" b="1" dirty="0"/>
              <a:t>/</a:t>
            </a:r>
            <a:r>
              <a:rPr lang="tr-TR" sz="2400" b="1" dirty="0" err="1"/>
              <a:t>Non-targeted</a:t>
            </a:r>
            <a:r>
              <a:rPr lang="tr-TR" sz="2400" b="1" dirty="0"/>
              <a:t>) Saldırı</a:t>
            </a:r>
            <a:r>
              <a:rPr lang="tr-TR" dirty="0"/>
              <a:t>: </a:t>
            </a:r>
            <a:r>
              <a:rPr lang="tr-TR" sz="2000" dirty="0"/>
              <a:t>Saldırganın tek amacı modelin yanlış yapmasıdır, sonucun ne olduğu önemli değildir</a:t>
            </a:r>
            <a:r>
              <a:rPr lang="tr-TR" dirty="0"/>
              <a:t>.</a:t>
            </a:r>
          </a:p>
          <a:p>
            <a:r>
              <a:rPr lang="tr-TR" sz="1800" dirty="0"/>
              <a:t>Örnek: "Bu dur tabelasını ne olarak görürsen gör ama dur tabelası olarak görme."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51800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0102EC-055C-244B-7576-F5D89CE0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u="sng" dirty="0"/>
              <a:t>Korunma Yöntemleri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4A30CF-3C16-D187-04C1-200B8D551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Adversarial</a:t>
            </a:r>
            <a:r>
              <a:rPr lang="tr-TR" b="1" dirty="0"/>
              <a:t> Training (en etkililerden)</a:t>
            </a:r>
          </a:p>
          <a:p>
            <a:pPr marL="0" indent="0">
              <a:buNone/>
            </a:pPr>
            <a:r>
              <a:rPr lang="es-ES" sz="2200" i="1" dirty="0"/>
              <a:t>Model, adversarial örneklerle yeniden eğitilir</a:t>
            </a:r>
            <a:r>
              <a:rPr lang="tr-TR" sz="2200" i="1" dirty="0"/>
              <a:t>. Bir «aşı» mantığıdır. Örneğin FGSM gibi yöntemlerle üretilmiş manipüle etmeye yönelik örnekleri de gösteririz. Böylece model bağışıklık kazanır.</a:t>
            </a:r>
          </a:p>
          <a:p>
            <a:pPr marL="0" indent="0">
              <a:buNone/>
            </a:pPr>
            <a:endParaRPr lang="tr-TR" sz="2200" b="1" dirty="0"/>
          </a:p>
          <a:p>
            <a:pPr marL="0" indent="0">
              <a:buNone/>
            </a:pPr>
            <a:endParaRPr lang="tr-TR" sz="2200" b="1" dirty="0"/>
          </a:p>
          <a:p>
            <a:r>
              <a:rPr lang="tr-TR" b="1" dirty="0"/>
              <a:t>Savunma Amaçlı Damıtma</a:t>
            </a:r>
          </a:p>
          <a:p>
            <a:pPr marL="0" indent="0">
              <a:buNone/>
            </a:pPr>
            <a:r>
              <a:rPr lang="tr-TR" sz="2200" i="1" dirty="0"/>
              <a:t>Model kararları daha esnek hale getirilir. Çok keskin (%99 köpek, %1 kedi) gibi keskin gradyanlar saldırganlar için kolaylık sağlar. </a:t>
            </a:r>
            <a:r>
              <a:rPr lang="tr-TR" sz="2200" i="1" dirty="0" err="1"/>
              <a:t>Distillation</a:t>
            </a:r>
            <a:r>
              <a:rPr lang="tr-TR" sz="2200" i="1" dirty="0"/>
              <a:t> ile model çıktıları daha yumuşak (%70 kedi, %20 köpek, %10 kuş) hale getirilir. Sonuç olarak modelin küçük girdi değişikliklerine (gürültüye ) hassasiyeti azalır.</a:t>
            </a:r>
          </a:p>
        </p:txBody>
      </p:sp>
    </p:spTree>
    <p:extLst>
      <p:ext uri="{BB962C8B-B14F-4D97-AF65-F5344CB8AC3E}">
        <p14:creationId xmlns:p14="http://schemas.microsoft.com/office/powerpoint/2010/main" val="2248577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E565DF-C811-B39E-EB54-0A1E6354A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6383"/>
            <a:ext cx="10515600" cy="5690580"/>
          </a:xfrm>
        </p:spPr>
        <p:txBody>
          <a:bodyPr/>
          <a:lstStyle/>
          <a:p>
            <a:endParaRPr lang="tr-TR" b="1" dirty="0"/>
          </a:p>
          <a:p>
            <a:endParaRPr lang="tr-TR" b="1" dirty="0"/>
          </a:p>
          <a:p>
            <a:r>
              <a:rPr lang="tr-TR" b="1" dirty="0"/>
              <a:t>Girdi Dönüştürme, ön işleme</a:t>
            </a:r>
          </a:p>
          <a:p>
            <a:pPr marL="0" indent="0">
              <a:buNone/>
            </a:pPr>
            <a:r>
              <a:rPr lang="tr-TR" sz="2200" i="1" dirty="0"/>
              <a:t>Resim modele girmeden önce üzerindeki olası gürültüler temizlenmeye çalışılır. </a:t>
            </a:r>
            <a:r>
              <a:rPr lang="tr-TR" sz="2200" i="1" u="sng" dirty="0"/>
              <a:t>Yöntemler</a:t>
            </a:r>
            <a:r>
              <a:rPr lang="tr-TR" sz="2200" i="1" dirty="0"/>
              <a:t>: Bit Depth </a:t>
            </a:r>
            <a:r>
              <a:rPr lang="tr-TR" sz="2200" i="1" dirty="0" err="1"/>
              <a:t>Reduction</a:t>
            </a:r>
            <a:r>
              <a:rPr lang="tr-TR" sz="2200" i="1" dirty="0"/>
              <a:t>, JPEG Sıkıştırma, </a:t>
            </a:r>
            <a:r>
              <a:rPr lang="tr-TR" sz="2200" i="1" dirty="0" err="1"/>
              <a:t>Blurring</a:t>
            </a:r>
            <a:endParaRPr lang="tr-TR" sz="2200" i="1" dirty="0"/>
          </a:p>
          <a:p>
            <a:pPr marL="0" indent="0">
              <a:buNone/>
            </a:pPr>
            <a:endParaRPr lang="tr-TR" sz="2200" i="1" dirty="0"/>
          </a:p>
          <a:p>
            <a:r>
              <a:rPr lang="tr-TR" sz="2600" b="1" dirty="0" err="1"/>
              <a:t>Adversarial</a:t>
            </a:r>
            <a:r>
              <a:rPr lang="tr-TR" sz="2600" b="1" dirty="0"/>
              <a:t> </a:t>
            </a:r>
            <a:r>
              <a:rPr lang="tr-TR" sz="2600" b="1" dirty="0" err="1"/>
              <a:t>Detection</a:t>
            </a:r>
            <a:endParaRPr lang="tr-TR" sz="2600" b="1" dirty="0"/>
          </a:p>
          <a:p>
            <a:pPr marL="0" indent="0">
              <a:buNone/>
            </a:pPr>
            <a:r>
              <a:rPr lang="tr-TR" sz="2200" i="1" dirty="0"/>
              <a:t>Saldırıyı engellemek yerine girdinin bir saldırı olup olmadığı sınıflandırılmaya çalışır.</a:t>
            </a:r>
          </a:p>
          <a:p>
            <a:pPr marL="0" indent="0">
              <a:buNone/>
            </a:pPr>
            <a:r>
              <a:rPr lang="tr-TR" sz="2200" i="1" u="sng" dirty="0"/>
              <a:t>Nasıl</a:t>
            </a:r>
            <a:r>
              <a:rPr lang="tr-TR" sz="2200" i="1" dirty="0"/>
              <a:t>? Ayrı bir bekçi gibi model eğitilir bu modelin tek görevi gelen resmin doğal mı yoksa oynanmış bir örnek mi olduğunu ayırt etmektir.</a:t>
            </a:r>
          </a:p>
          <a:p>
            <a:pPr marL="0" indent="0">
              <a:buNone/>
            </a:pPr>
            <a:endParaRPr lang="tr-TR" sz="2200" i="1" dirty="0"/>
          </a:p>
          <a:p>
            <a:pPr marL="0" indent="0">
              <a:buNone/>
            </a:pPr>
            <a:r>
              <a:rPr lang="tr-TR" sz="2200" i="1" dirty="0"/>
              <a:t> </a:t>
            </a:r>
          </a:p>
          <a:p>
            <a:pPr marL="0" indent="0">
              <a:buNone/>
            </a:pPr>
            <a:endParaRPr lang="tr-TR" sz="2200" i="1" dirty="0"/>
          </a:p>
          <a:p>
            <a:pPr marL="0" indent="0">
              <a:buNone/>
            </a:pPr>
            <a:endParaRPr lang="tr-TR" sz="2200" i="1" dirty="0"/>
          </a:p>
        </p:txBody>
      </p:sp>
    </p:spTree>
    <p:extLst>
      <p:ext uri="{BB962C8B-B14F-4D97-AF65-F5344CB8AC3E}">
        <p14:creationId xmlns:p14="http://schemas.microsoft.com/office/powerpoint/2010/main" val="176853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91514B-428C-FDA4-CC16-F664DCF83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78"/>
            <a:ext cx="10515600" cy="1325563"/>
          </a:xfrm>
        </p:spPr>
        <p:txBody>
          <a:bodyPr>
            <a:normAutofit/>
          </a:bodyPr>
          <a:lstStyle/>
          <a:p>
            <a:r>
              <a:rPr lang="tr-TR" sz="4000" dirty="0"/>
              <a:t>Dünyadan </a:t>
            </a:r>
            <a:r>
              <a:rPr lang="tr-TR" sz="4000" dirty="0" err="1"/>
              <a:t>Adversarial</a:t>
            </a:r>
            <a:r>
              <a:rPr lang="tr-TR" sz="4000" dirty="0"/>
              <a:t> ML </a:t>
            </a:r>
            <a:r>
              <a:rPr lang="tr-TR" sz="4000" dirty="0" err="1"/>
              <a:t>örneklerı</a:t>
            </a:r>
            <a:endParaRPr lang="tr-TR" sz="40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F49C811-B816-6CC6-D875-E4DB2AFE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041"/>
            <a:ext cx="10515600" cy="4748922"/>
          </a:xfrm>
        </p:spPr>
        <p:txBody>
          <a:bodyPr>
            <a:normAutofit/>
          </a:bodyPr>
          <a:lstStyle/>
          <a:p>
            <a:r>
              <a:rPr lang="tr-TR" sz="2400" b="1" dirty="0"/>
              <a:t>🛑 1. Otonom Araçlar &amp; Trafik Levhaları</a:t>
            </a:r>
          </a:p>
          <a:p>
            <a:pPr marL="0" indent="0">
              <a:buNone/>
            </a:pPr>
            <a:r>
              <a:rPr lang="tr-TR" sz="2000" dirty="0"/>
              <a:t>STOP tabelasına küçük </a:t>
            </a:r>
            <a:r>
              <a:rPr lang="tr-TR" sz="2000" dirty="0" err="1"/>
              <a:t>çıkartlamalar</a:t>
            </a:r>
            <a:r>
              <a:rPr lang="tr-TR" sz="2000" dirty="0"/>
              <a:t> ekleyerek, görüntüyü insanlar için hala STOP yaparken modelin SPEED LIMIT 45 olarak algılaması sağlandı.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sz="1500" i="1" dirty="0"/>
              <a:t>https://www.catalyzex.com/paper/adversarial-attacks-on-traffic-sign</a:t>
            </a:r>
          </a:p>
        </p:txBody>
      </p:sp>
      <p:pic>
        <p:nvPicPr>
          <p:cNvPr id="5" name="Resim 4" descr="metin, yazı tipi, durma işareti, trafik işaret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893D40F-B897-BC9F-5C13-2AE47C4C7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64" y="2695902"/>
            <a:ext cx="1800476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75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2A7C1D-CED4-026C-81D1-03EA7C11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787"/>
            <a:ext cx="10515600" cy="1325563"/>
          </a:xfrm>
        </p:spPr>
        <p:txBody>
          <a:bodyPr>
            <a:normAutofit/>
          </a:bodyPr>
          <a:lstStyle/>
          <a:p>
            <a:r>
              <a:rPr lang="tr-TR" sz="3200" b="1" dirty="0"/>
              <a:t>2. Otonom Sürüş ve Güvenlik Riski (Yayaları görmezden gelme) </a:t>
            </a:r>
            <a:endParaRPr lang="tr-TR" sz="32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6DDB91E-E386-33D7-71E5-A119258AD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35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/>
              <a:t>Otonom bir aracın kamera sistemine sızan bir saldırgan, görüntüye çok küçük gürültüler ekleyebilir.</a:t>
            </a:r>
          </a:p>
          <a:p>
            <a:pPr marL="0" indent="0">
              <a:buNone/>
            </a:pPr>
            <a:r>
              <a:rPr lang="tr-TR" sz="2200" dirty="0"/>
              <a:t>Normalde sistem tarafından tespit edilen yayalar bu gürültü sonrası yayaları tespit edemez hale geliyor</a:t>
            </a:r>
          </a:p>
        </p:txBody>
      </p:sp>
      <p:pic>
        <p:nvPicPr>
          <p:cNvPr id="6" name="Resim 5" descr="ekran görüntüsü, buz pateni sporu, patencil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81F86B2-0562-9F80-187A-D48B71F4C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337" y="2837104"/>
            <a:ext cx="7425027" cy="372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02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691B40-E6A3-62DC-2A9B-2F5628AE7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79"/>
            <a:ext cx="10515600" cy="1325563"/>
          </a:xfrm>
        </p:spPr>
        <p:txBody>
          <a:bodyPr>
            <a:normAutofit/>
          </a:bodyPr>
          <a:lstStyle/>
          <a:p>
            <a:r>
              <a:rPr lang="nb-NO" sz="3200" b="1" dirty="0"/>
              <a:t>3. OCR &amp; Belge Okuma Sistemleri</a:t>
            </a:r>
            <a:endParaRPr lang="tr-TR" sz="32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A8B37FE-A5EA-A8D0-B9EE-E1EDB94A5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140"/>
            <a:ext cx="10515600" cy="54377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200" dirty="0"/>
              <a:t>Fatura ve belgelerde harflere çok küçük gürültüler eklendi, insan gözüyle yine aynı okunabilen belgeler OCR modeli tarafından tamamen yanlış okundu. (</a:t>
            </a:r>
            <a:r>
              <a:rPr lang="tr-TR" sz="2200" dirty="0" err="1"/>
              <a:t>Evasion</a:t>
            </a:r>
            <a:r>
              <a:rPr lang="tr-TR" sz="2200" dirty="0"/>
              <a:t> Attack)</a:t>
            </a:r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"WATERMARK (Filigran) saldırısının iş akışı (</a:t>
            </a:r>
            <a:r>
              <a:rPr lang="tr-T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) şöyledir: Hedeflenen </a:t>
            </a:r>
            <a:r>
              <a:rPr lang="tr-TR" sz="1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DenseNet</a:t>
            </a: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 modeli üzerinden </a:t>
            </a:r>
            <a:r>
              <a:rPr lang="tr-TR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CTC kayıp fonksiyonu</a:t>
            </a: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 ile geri yayılım (</a:t>
            </a:r>
            <a:r>
              <a:rPr lang="tr-T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backpropagation</a:t>
            </a: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) yaparak </a:t>
            </a:r>
            <a:r>
              <a:rPr lang="tr-TR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MIM</a:t>
            </a: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 (Momentum </a:t>
            </a:r>
            <a:r>
              <a:rPr lang="tr-T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Iterative</a:t>
            </a: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) aracılığıyla gürültü üretiyoruz ve ardından bu gürültüyü filigran bölgesi dışındaki alanlarda maskeliyoruz. Belirli bir yineleme eşiğine (</a:t>
            </a:r>
            <a:r>
              <a:rPr lang="tr-T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iterations</a:t>
            </a: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threshold</a:t>
            </a:r>
            <a:r>
              <a:rPr lang="tr-TR" sz="1600" i="1" dirty="0">
                <a:latin typeface="Arial" panose="020B0604020202020204" pitchFamily="34" charset="0"/>
                <a:cs typeface="Arial" panose="020B0604020202020204" pitchFamily="34" charset="0"/>
              </a:rPr>
              <a:t>) ulaşana kadar yukarıdaki prosedürü tekrarlıyoruz."</a:t>
            </a:r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r>
              <a:rPr lang="tr-TR" sz="2200" i="1" dirty="0"/>
              <a:t>https://arxiv.org/abs/2002.03095</a:t>
            </a:r>
          </a:p>
        </p:txBody>
      </p:sp>
      <p:pic>
        <p:nvPicPr>
          <p:cNvPr id="7" name="Resim 6" descr="metin, ekran görüntüsü, çizg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8D2F2BB-B2A0-675E-8A6F-90ADAA3CB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59" y="1830062"/>
            <a:ext cx="11299273" cy="280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79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F62D3D9-3952-8E55-3954-126024B36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180" y="1517515"/>
            <a:ext cx="10271639" cy="4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95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EB38D9-4DB1-8D08-3DB7-0910DBB67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71"/>
            <a:ext cx="10515600" cy="1325563"/>
          </a:xfrm>
        </p:spPr>
        <p:txBody>
          <a:bodyPr>
            <a:normAutofit/>
          </a:bodyPr>
          <a:lstStyle/>
          <a:p>
            <a:r>
              <a:rPr lang="tr-TR" sz="4000" i="1" dirty="0"/>
              <a:t>Uygulama</a:t>
            </a:r>
            <a:r>
              <a:rPr lang="tr-TR" sz="4000" i="1" dirty="0">
                <a:solidFill>
                  <a:srgbClr val="C00000"/>
                </a:solidFill>
              </a:rPr>
              <a:t>:  </a:t>
            </a:r>
            <a:r>
              <a:rPr lang="tr-TR" sz="4000" b="1" dirty="0">
                <a:solidFill>
                  <a:srgbClr val="C00000"/>
                </a:solidFill>
              </a:rPr>
              <a:t>FGSM (</a:t>
            </a:r>
            <a:r>
              <a:rPr lang="tr-TR" sz="4000" b="1" dirty="0" err="1">
                <a:solidFill>
                  <a:srgbClr val="C00000"/>
                </a:solidFill>
              </a:rPr>
              <a:t>Fast</a:t>
            </a:r>
            <a:r>
              <a:rPr lang="tr-TR" sz="4000" b="1" dirty="0">
                <a:solidFill>
                  <a:srgbClr val="C00000"/>
                </a:solidFill>
              </a:rPr>
              <a:t> </a:t>
            </a:r>
            <a:r>
              <a:rPr lang="tr-TR" sz="4000" b="1" dirty="0" err="1">
                <a:solidFill>
                  <a:srgbClr val="C00000"/>
                </a:solidFill>
              </a:rPr>
              <a:t>Gradient</a:t>
            </a:r>
            <a:r>
              <a:rPr lang="tr-TR" sz="4000" b="1" dirty="0">
                <a:solidFill>
                  <a:srgbClr val="C00000"/>
                </a:solidFill>
              </a:rPr>
              <a:t> </a:t>
            </a:r>
            <a:r>
              <a:rPr lang="tr-TR" sz="4000" b="1" dirty="0" err="1">
                <a:solidFill>
                  <a:srgbClr val="C00000"/>
                </a:solidFill>
              </a:rPr>
              <a:t>Sign</a:t>
            </a:r>
            <a:r>
              <a:rPr lang="tr-TR" sz="4000" b="1" dirty="0">
                <a:solidFill>
                  <a:srgbClr val="C00000"/>
                </a:solidFill>
              </a:rPr>
              <a:t> </a:t>
            </a:r>
            <a:r>
              <a:rPr lang="tr-TR" sz="4000" b="1" dirty="0" err="1">
                <a:solidFill>
                  <a:srgbClr val="C00000"/>
                </a:solidFill>
              </a:rPr>
              <a:t>Method</a:t>
            </a:r>
            <a:r>
              <a:rPr lang="tr-TR" sz="4000" b="1" dirty="0">
                <a:solidFill>
                  <a:srgbClr val="C00000"/>
                </a:solidFill>
              </a:rPr>
              <a:t> )</a:t>
            </a:r>
            <a:r>
              <a:rPr lang="tr-TR" sz="4000" dirty="0">
                <a:solidFill>
                  <a:srgbClr val="C00000"/>
                </a:solidFill>
              </a:rPr>
              <a:t>: </a:t>
            </a:r>
            <a:endParaRPr lang="tr-TR" sz="4000" i="1" dirty="0">
              <a:solidFill>
                <a:srgbClr val="C0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74B397F-50F3-9960-7472-22AF550D0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334"/>
            <a:ext cx="10515600" cy="5083541"/>
          </a:xfrm>
        </p:spPr>
        <p:txBody>
          <a:bodyPr>
            <a:normAutofit/>
          </a:bodyPr>
          <a:lstStyle/>
          <a:p>
            <a:r>
              <a:rPr lang="tr-TR" sz="2400" i="1" u="sng" dirty="0"/>
              <a:t>Kullanılan Veri Seti</a:t>
            </a:r>
            <a:r>
              <a:rPr lang="tr-TR" sz="2400" i="1" dirty="0"/>
              <a:t>:</a:t>
            </a:r>
            <a:r>
              <a:rPr lang="tr-TR" sz="2000" i="1" dirty="0"/>
              <a:t> </a:t>
            </a:r>
            <a:r>
              <a:rPr lang="tr-TR" sz="2000" b="1" dirty="0"/>
              <a:t>MNIST</a:t>
            </a:r>
            <a:r>
              <a:rPr lang="tr-TR" sz="2000" dirty="0"/>
              <a:t> (28×28 gri seviye el yazısı rakamlar), 60.000 </a:t>
            </a:r>
            <a:r>
              <a:rPr lang="tr-TR" sz="2000" dirty="0" err="1"/>
              <a:t>train</a:t>
            </a:r>
            <a:r>
              <a:rPr lang="tr-TR" sz="2000" dirty="0"/>
              <a:t>, 10.000 test</a:t>
            </a:r>
          </a:p>
          <a:p>
            <a:r>
              <a:rPr lang="tr-TR" sz="2400" i="1" u="sng" dirty="0"/>
              <a:t>Model Mimarisi </a:t>
            </a:r>
            <a:r>
              <a:rPr lang="tr-TR" sz="2000" dirty="0"/>
              <a:t>: </a:t>
            </a:r>
            <a:r>
              <a:rPr lang="tr-TR" sz="2000" dirty="0" err="1"/>
              <a:t>Feedforward</a:t>
            </a:r>
            <a:r>
              <a:rPr lang="tr-TR" sz="2000" dirty="0"/>
              <a:t> NN, 1 Gizli Katman, 128 nöron, </a:t>
            </a:r>
            <a:r>
              <a:rPr lang="tr-TR" sz="2000" dirty="0" err="1"/>
              <a:t>ReLU</a:t>
            </a:r>
            <a:r>
              <a:rPr lang="tr-TR" sz="2000" dirty="0"/>
              <a:t>, </a:t>
            </a:r>
            <a:r>
              <a:rPr lang="tr-TR" sz="2000" dirty="0" err="1"/>
              <a:t>output</a:t>
            </a:r>
            <a:r>
              <a:rPr lang="tr-TR" sz="2000" dirty="0"/>
              <a:t>: 10 sınıf </a:t>
            </a:r>
            <a:r>
              <a:rPr lang="tr-TR" sz="2000" dirty="0" err="1"/>
              <a:t>Softmax</a:t>
            </a:r>
            <a:endParaRPr lang="tr-TR" sz="2000" dirty="0"/>
          </a:p>
          <a:p>
            <a:r>
              <a:rPr lang="tr-TR" sz="2400" i="1" u="sng" dirty="0"/>
              <a:t>Saldırı Türü</a:t>
            </a:r>
            <a:r>
              <a:rPr lang="tr-TR" sz="2000" i="1" u="sng" dirty="0"/>
              <a:t>:  </a:t>
            </a:r>
            <a:r>
              <a:rPr lang="tr-TR" sz="2000" b="1" dirty="0"/>
              <a:t>FGSM (</a:t>
            </a:r>
            <a:r>
              <a:rPr lang="tr-TR" sz="2000" b="1" dirty="0" err="1"/>
              <a:t>Fast</a:t>
            </a:r>
            <a:r>
              <a:rPr lang="tr-TR" sz="2000" b="1" dirty="0"/>
              <a:t> </a:t>
            </a:r>
            <a:r>
              <a:rPr lang="tr-TR" sz="2000" b="1" dirty="0" err="1"/>
              <a:t>Gradient</a:t>
            </a:r>
            <a:r>
              <a:rPr lang="tr-TR" sz="2000" b="1" dirty="0"/>
              <a:t> </a:t>
            </a:r>
            <a:r>
              <a:rPr lang="tr-TR" sz="2000" b="1" dirty="0" err="1"/>
              <a:t>Sign</a:t>
            </a:r>
            <a:r>
              <a:rPr lang="tr-TR" sz="2000" b="1" dirty="0"/>
              <a:t> </a:t>
            </a:r>
            <a:r>
              <a:rPr lang="tr-TR" sz="2000" b="1" dirty="0" err="1"/>
              <a:t>Method</a:t>
            </a:r>
            <a:r>
              <a:rPr lang="tr-TR" sz="2000" b="1" dirty="0"/>
              <a:t> )</a:t>
            </a:r>
            <a:r>
              <a:rPr lang="tr-TR" sz="2000" dirty="0"/>
              <a:t>:  White-</a:t>
            </a:r>
            <a:r>
              <a:rPr lang="tr-TR" sz="2000" dirty="0" err="1"/>
              <a:t>box</a:t>
            </a:r>
            <a:r>
              <a:rPr lang="tr-TR" sz="2000" dirty="0"/>
              <a:t>, </a:t>
            </a:r>
            <a:r>
              <a:rPr lang="tr-TR" sz="2000" dirty="0" err="1"/>
              <a:t>Evasion</a:t>
            </a:r>
            <a:r>
              <a:rPr lang="tr-TR" sz="2000" dirty="0"/>
              <a:t>, </a:t>
            </a:r>
            <a:r>
              <a:rPr lang="tr-TR" sz="2000" dirty="0" err="1"/>
              <a:t>Untargeted</a:t>
            </a:r>
            <a:r>
              <a:rPr lang="tr-TR" sz="2000" dirty="0"/>
              <a:t> saldırı.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/>
              <a:t>Modelin hatasını en hızlı artıran yön, yani gradyanın işareti alınır. Girdi bu yönde çok küçük bir epsilon kadar kaydırılır. Bu küçük kayma modelin karar sınırını geçmesine yeter.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Picture 2" descr="Breaking Deep Learning with Adversarial examples using Tensorflow –  CV-Tricks.com">
            <a:extLst>
              <a:ext uri="{FF2B5EF4-FFF2-40B4-BE49-F238E27FC236}">
                <a16:creationId xmlns:a16="http://schemas.microsoft.com/office/drawing/2014/main" id="{D0BC7636-59C0-003E-188C-751773719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195" y="3159386"/>
            <a:ext cx="5606162" cy="209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138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ekran görüntüsü, metin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7BA38CF-74C5-64FB-C62C-E8ADAF1E2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20" y="0"/>
            <a:ext cx="3881676" cy="3828606"/>
          </a:xfrm>
          <a:prstGeom prst="rect">
            <a:avLst/>
          </a:prstGeom>
        </p:spPr>
      </p:pic>
      <p:pic>
        <p:nvPicPr>
          <p:cNvPr id="9" name="Resim 8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DB313DE-F5F8-0BC3-8B34-3E582A9BF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70" y="109259"/>
            <a:ext cx="6769576" cy="3819915"/>
          </a:xfrm>
          <a:prstGeom prst="rect">
            <a:avLst/>
          </a:prstGeom>
        </p:spPr>
      </p:pic>
      <p:pic>
        <p:nvPicPr>
          <p:cNvPr id="11" name="Resim 10" descr="metin, yazı tipi, ekran görüntüsü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48F7BC5-3859-8C3D-76C5-E49FE2425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01" y="4727642"/>
            <a:ext cx="5577473" cy="1675537"/>
          </a:xfrm>
          <a:prstGeom prst="rect">
            <a:avLst/>
          </a:prstGeom>
        </p:spPr>
      </p:pic>
      <p:pic>
        <p:nvPicPr>
          <p:cNvPr id="13" name="Resim 12" descr="ekran görüntüsü, diyagram, metin, piks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AD9F3D6-D176-CB9C-5BAD-58DC7C257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448" y="3649029"/>
            <a:ext cx="4640186" cy="30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92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06C0B4-835F-F885-8B44-BDFDE377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438" y="532968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tr-TR" dirty="0"/>
            </a:br>
            <a:br>
              <a:rPr lang="tr-TR" dirty="0"/>
            </a:br>
            <a:endParaRPr lang="tr-TR" dirty="0"/>
          </a:p>
        </p:txBody>
      </p:sp>
      <p:pic>
        <p:nvPicPr>
          <p:cNvPr id="7" name="Resim 6" descr="metin, ekran görüntüsü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072032D-FF9C-5CDB-3B1B-72A55DEAA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6876"/>
            <a:ext cx="5715798" cy="3486637"/>
          </a:xfrm>
          <a:prstGeom prst="rect">
            <a:avLst/>
          </a:prstGeom>
        </p:spPr>
      </p:pic>
      <p:pic>
        <p:nvPicPr>
          <p:cNvPr id="9" name="Resim 8" descr="metin, ekran görüntüsü, diyagram, piks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010EC8D-7045-E27C-93CF-3AABA5923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110" y="296876"/>
            <a:ext cx="4048690" cy="4229690"/>
          </a:xfrm>
          <a:prstGeom prst="rect">
            <a:avLst/>
          </a:prstGeom>
        </p:spPr>
      </p:pic>
      <p:pic>
        <p:nvPicPr>
          <p:cNvPr id="13" name="Resim 12" descr="metin, yazı tip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83F32C7-FCAE-037A-CBD2-701C65DE0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272" y="4402867"/>
            <a:ext cx="7821039" cy="215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78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3F4D6AA-6680-FB3D-4B0F-BD74A8673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23" y="439737"/>
            <a:ext cx="881062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02F0F8C-74B4-0D4F-AF9B-59E38E6601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367" y="3211512"/>
            <a:ext cx="7818136" cy="341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425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9FFA7777-6B52-4EED-5419-9BD21047F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220" y="184168"/>
            <a:ext cx="881062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1FAE68E4-D41F-D977-F28B-EEC374576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2" y="3111482"/>
            <a:ext cx="814387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483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D82220C-E7D7-A625-24E3-B93BCF5B9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3200" i="1" dirty="0">
                <a:latin typeface="Consolas" panose="020B0609020204030204" pitchFamily="49" charset="0"/>
              </a:rPr>
              <a:t>              Yusuf Korkmazyiğit, Aralık 2025</a:t>
            </a:r>
          </a:p>
          <a:p>
            <a:pPr marL="0" indent="0">
              <a:buNone/>
            </a:pPr>
            <a:r>
              <a:rPr lang="tr-TR" sz="3200" i="1" dirty="0">
                <a:latin typeface="Consolas" panose="020B0609020204030204" pitchFamily="49" charset="0"/>
              </a:rPr>
              <a:t>                     </a:t>
            </a:r>
            <a:endParaRPr lang="tr-TR" sz="2000" i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Words>824</Words>
  <Application>Microsoft Office PowerPoint</Application>
  <PresentationFormat>Geniş ekran</PresentationFormat>
  <Paragraphs>91</Paragraphs>
  <Slides>20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Consolas</vt:lpstr>
      <vt:lpstr>Office Teması</vt:lpstr>
      <vt:lpstr>Makine Öğrenmesi Modellerinde Adversarial Saldırılar  –  Adversarial Machine Learning  </vt:lpstr>
      <vt:lpstr>Makine Öğrenmesi Nedir?</vt:lpstr>
      <vt:lpstr>Karmaşık talimatlar yerine; Makine fazlaca veriden talimatları kendisi çıkarıyor</vt:lpstr>
      <vt:lpstr>PowerPoint Sunusu</vt:lpstr>
      <vt:lpstr>Adversarial Machine Learning</vt:lpstr>
      <vt:lpstr>Types of Adversarial attacks</vt:lpstr>
      <vt:lpstr>2. Saldırının Zamanlamasına Göre (Timing-based)</vt:lpstr>
      <vt:lpstr>3. Saldırganın Amacına Göre (Goal-based)</vt:lpstr>
      <vt:lpstr>Korunma Yöntemleri</vt:lpstr>
      <vt:lpstr>PowerPoint Sunusu</vt:lpstr>
      <vt:lpstr>Dünyadan Adversarial ML örneklerı</vt:lpstr>
      <vt:lpstr>2. Otonom Sürüş ve Güvenlik Riski (Yayaları görmezden gelme) </vt:lpstr>
      <vt:lpstr>3. OCR &amp; Belge Okuma Sistemleri</vt:lpstr>
      <vt:lpstr>PowerPoint Sunusu</vt:lpstr>
      <vt:lpstr>Uygulama:  FGSM (Fast Gradient Sign Method ): </vt:lpstr>
      <vt:lpstr>PowerPoint Sunusu</vt:lpstr>
      <vt:lpstr>  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 Korkmazyiğit</dc:creator>
  <cp:lastModifiedBy>Yusuf Korkmazyiğit</cp:lastModifiedBy>
  <cp:revision>12</cp:revision>
  <dcterms:created xsi:type="dcterms:W3CDTF">2025-12-28T18:47:34Z</dcterms:created>
  <dcterms:modified xsi:type="dcterms:W3CDTF">2025-12-29T11:04:34Z</dcterms:modified>
</cp:coreProperties>
</file>